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881b4d893541e9" /><Relationship Type="http://schemas.openxmlformats.org/officeDocument/2006/relationships/extended-properties" Target="/docProps/app.xml" Id="Rd69b5ca4fa314bfc" /><Relationship Type="http://schemas.openxmlformats.org/officeDocument/2006/relationships/officeDocument" Target="/ppt/presentation.xml" Id="Rea25331f482647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6da08bd94443c3"/>
  </p:sldMasterIdLst>
  <p:notesMasterIdLst>
    <p:notesMasterId xmlns:r="http://schemas.openxmlformats.org/officeDocument/2006/relationships" r:id="R5c2fe2a47aca4698"/>
  </p:notesMasterIdLst>
  <p:sldIdLst>
    <p:sldId xmlns:r="http://schemas.openxmlformats.org/officeDocument/2006/relationships" id="256" r:id="Rc79390bc259244c6"/>
    <p:sldId xmlns:r="http://schemas.openxmlformats.org/officeDocument/2006/relationships" id="257" r:id="Rfbe092dacccb470d"/>
    <p:sldId xmlns:r="http://schemas.openxmlformats.org/officeDocument/2006/relationships" id="258" r:id="R8eb17441712b43be"/>
    <p:sldId xmlns:r="http://schemas.openxmlformats.org/officeDocument/2006/relationships" id="259" r:id="Rbb15f9810a5847b7"/>
    <p:sldId xmlns:r="http://schemas.openxmlformats.org/officeDocument/2006/relationships" id="260" r:id="R0a46227005a641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64cdd7c3084850" /><Relationship Type="http://schemas.openxmlformats.org/officeDocument/2006/relationships/slideMaster" Target="/ppt/slideMasters/slideMaster1.xml" Id="R4c6da08bd94443c3" /><Relationship Type="http://schemas.openxmlformats.org/officeDocument/2006/relationships/notesMaster" Target="/ppt/notesMasters/notesMaster1.xml" Id="R5c2fe2a47aca4698" /><Relationship Type="http://schemas.openxmlformats.org/officeDocument/2006/relationships/presProps" Target="/ppt/presProps.xml" Id="Rb527e7a4349e4f40" /><Relationship Type="http://schemas.openxmlformats.org/officeDocument/2006/relationships/tableStyles" Target="/ppt/tableStyles.xml" Id="R0b54902b54284fe1" /><Relationship Type="http://schemas.openxmlformats.org/officeDocument/2006/relationships/slide" Target="/ppt/slides/slide1.xml" Id="Rc79390bc259244c6" /><Relationship Type="http://schemas.openxmlformats.org/officeDocument/2006/relationships/slide" Target="/ppt/slides/slide2.xml" Id="Rfbe092dacccb470d" /><Relationship Type="http://schemas.openxmlformats.org/officeDocument/2006/relationships/slide" Target="/ppt/slides/slide3.xml" Id="R8eb17441712b43be" /><Relationship Type="http://schemas.openxmlformats.org/officeDocument/2006/relationships/slide" Target="/ppt/slides/slide4.xml" Id="Rbb15f9810a5847b7" /><Relationship Type="http://schemas.openxmlformats.org/officeDocument/2006/relationships/slide" Target="/ppt/slides/slide5.xml" Id="R0a46227005a641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ecfc256a0742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b0af91a0b8483b" /><Relationship Type="http://schemas.openxmlformats.org/officeDocument/2006/relationships/notesMaster" Target="/ppt/notesMasters/notesMaster1.xml" Id="R60d5869190a446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ea8139e0e2408a" /><Relationship Type="http://schemas.openxmlformats.org/officeDocument/2006/relationships/notesMaster" Target="/ppt/notesMasters/notesMaster1.xml" Id="R6857390bd90b49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af7459fbdc4eec" /><Relationship Type="http://schemas.openxmlformats.org/officeDocument/2006/relationships/notesMaster" Target="/ppt/notesMasters/notesMaster1.xml" Id="Rc5eafd42625346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51e322aece4f6e" /><Relationship Type="http://schemas.openxmlformats.org/officeDocument/2006/relationships/notesMaster" Target="/ppt/notesMasters/notesMaster1.xml" Id="R45aeadac4b1145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ea99f8b9cf4872" /><Relationship Type="http://schemas.openxmlformats.org/officeDocument/2006/relationships/notesMaster" Target="/ppt/notesMasters/notesMaster1.xml" Id="Rb9671abf1e6a41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在讨论实现方法前，先确认这是否是预期的项目目标。</a:t>
            </a:r>
          </a:p>
          <a:p xmlns:a="http://schemas.openxmlformats.org/drawingml/2006/main">
            <a:r>
              <a:t>强调感知方式和系统架构尚未最终确定。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老师提供的参考 PDF（基于相关讨论的摘要）：从视觉感知到风险判断再到警报的高层系统逻辑。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通过对比说明为什么基于视觉的监测目前看来更务实。</a:t>
            </a:r>
          </a:p>
          <a:p xmlns:a="http://schemas.openxmlformats.org/drawingml/2006/main">
            <a:r>
              <a:t>明确说明该选择尚未最终确定。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老师提供的参考 PDF（基于相关讨论的摘要）：基于车辆、生理信号、视觉和多模态的方法类别，以及视觉监测的非侵入式优势。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说明疲劳应通过一段时间内的表现来判断，而不是依据单帧画面。</a:t>
            </a:r>
          </a:p>
          <a:p xmlns:a="http://schemas.openxmlformats.org/drawingml/2006/main">
            <a:r>
              <a:t>眼睛、嘴部、头部运动和分心目前都只是候选线索。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老师提供的参考 PDF（基于相关讨论的摘要）：面部与行为线索、时间聚合、风险估计与警报，以及参考实现中几何特征和深度学习检测的结合。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请导师反馈个体差异和实时性能是否适合作为项目重点。</a:t>
            </a:r>
          </a:p>
          <a:p xmlns:a="http://schemas.openxmlformats.org/drawingml/2006/main">
            <a:r>
              <a:t>区分偏研究型的贡献与完整系统型的贡献。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老师提供的参考 PDF（基于相关讨论的摘要）：光照、遮挡、头部姿态、个体差异、泛化和实时部署挑战，以及参考实现中的轻量推理与延迟优化。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如果讨论时间有限，优先确认问题 3 和问题 5。</a:t>
            </a:r>
          </a:p>
          <a:p xmlns:a="http://schemas.openxmlformats.org/drawingml/2006/main">
            <a:r>
              <a:t>根据答案决定项目偏研究型还是系统型。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讨论问题综合自项目说明和此前的导师会议规划；未加入外部事实性主张。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fe76ed94f241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d494d9c42b474f" /><Relationship Type="http://schemas.openxmlformats.org/officeDocument/2006/relationships/slideLayout" Target="/ppt/slideLayouts/slideLayout1.xml" Id="R5e7bc3c76e8e49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7bc3c76e8e49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46fb98ec6490f" /><Relationship Type="http://schemas.openxmlformats.org/officeDocument/2006/relationships/notesSlide" Target="/ppt/notesSlides/notesSlide1.xml" Id="Rebc67d2c389f4e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72603d3c64237" /><Relationship Type="http://schemas.openxmlformats.org/officeDocument/2006/relationships/notesSlide" Target="/ppt/notesSlides/notesSlide2.xml" Id="Rb90e7361580c41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cbd283f6d476e" /><Relationship Type="http://schemas.openxmlformats.org/officeDocument/2006/relationships/notesSlide" Target="/ppt/notesSlides/notesSlide3.xml" Id="R0b8914c9fe5749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7806a1f374bd3" /><Relationship Type="http://schemas.openxmlformats.org/officeDocument/2006/relationships/notesSlide" Target="/ppt/notesSlides/notesSlide4.xml" Id="Rf65b19b13a9046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ed514241d4ba9" /><Relationship Type="http://schemas.openxmlformats.org/officeDocument/2006/relationships/notesSlide" Target="/ppt/notesSlides/notesSlide5.xml" Id="R2c76e7beab3041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B98A2A-0EB8-4642-A273-328AFC65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初步方向 · 导师讨论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F53FA63E-884C-4F12-AF76-B75A9452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06680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驾驶员疲劳检测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与智能道路安全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辅助系统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9DBB8-21C9-409A-A56F-A474C24B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29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84680-49A3-456E-830D-61CE769A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90975"/>
            <a:ext cx="942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开发一个实时、非侵入式系统，用于检测驾驶员疲劳，并及时发出安全警报或提供辅助。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1809750" y="5524500"/>
            <a:ext cx="6286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4191000" y="5524500"/>
            <a:ext cx="6286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3" name=""/>
          <p:cNvCxnSpPr/>
          <p:nvPr/>
        </p:nvCxnSpPr>
        <p:spPr>
          <a:xfrm xmlns:a="http://schemas.openxmlformats.org/drawingml/2006/main">
            <a:off x="6553200" y="5524500"/>
            <a:ext cx="6477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4" name=""/>
          <p:cNvCxnSpPr/>
          <p:nvPr/>
        </p:nvCxnSpPr>
        <p:spPr>
          <a:xfrm xmlns:a="http://schemas.openxmlformats.org/drawingml/2006/main">
            <a:off x="8810625" y="5524500"/>
            <a:ext cx="69532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9" name="cover-stage-1">
            <a:extLst xmlns:a="http://schemas.openxmlformats.org/drawingml/2006/main">
              <a:ext uri="{FF2B5EF4-FFF2-40B4-BE49-F238E27FC236}">
                <a16:creationId xmlns:a16="http://schemas.microsoft.com/office/drawing/2014/main" id="{AE1AF015-9A4F-46B2-A589-AC8271A1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4450"/>
            <a:ext cx="1352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E7E24-6AC8-417E-BD50-28285677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162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驾驶员</a:t>
            </a:r>
          </a:p>
        </p:txBody>
      </p:sp>
      <p:sp>
        <p:nvSpPr>
          <p:cNvPr id="11" name="cover-stage-2">
            <a:extLst xmlns:a="http://schemas.openxmlformats.org/drawingml/2006/main">
              <a:ext uri="{FF2B5EF4-FFF2-40B4-BE49-F238E27FC236}">
                <a16:creationId xmlns:a16="http://schemas.microsoft.com/office/drawing/2014/main" id="{9D0CF9FA-8B82-4CFC-807F-78BF6BD2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24450"/>
            <a:ext cx="1619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566105-2C58-46EE-9932-60615556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197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摄像头 / 传感器</a:t>
            </a:r>
          </a:p>
        </p:txBody>
      </p:sp>
      <p:sp>
        <p:nvSpPr>
          <p:cNvPr id="13" name="cover-stage-3">
            <a:extLst xmlns:a="http://schemas.openxmlformats.org/drawingml/2006/main">
              <a:ext uri="{FF2B5EF4-FFF2-40B4-BE49-F238E27FC236}">
                <a16:creationId xmlns:a16="http://schemas.microsoft.com/office/drawing/2014/main" id="{80A7FD1B-518A-4AAE-94D2-148F9359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24450"/>
            <a:ext cx="1600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93FCB6-77B3-40D6-974A-AA17CC3A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19700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疲劳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检测</a:t>
            </a:r>
          </a:p>
        </p:txBody>
      </p:sp>
      <p:sp>
        <p:nvSpPr>
          <p:cNvPr id="15" name="cover-stage-4">
            <a:extLst xmlns:a="http://schemas.openxmlformats.org/drawingml/2006/main">
              <a:ext uri="{FF2B5EF4-FFF2-40B4-BE49-F238E27FC236}">
                <a16:creationId xmlns:a16="http://schemas.microsoft.com/office/drawing/2014/main" id="{6E482898-F9D9-41A5-8B85-87743BFE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24450"/>
            <a:ext cx="14763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9415D2-B35C-428D-9749-97C16485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19700"/>
            <a:ext cx="128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风险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评估</a:t>
            </a:r>
          </a:p>
        </p:txBody>
      </p:sp>
      <p:sp>
        <p:nvSpPr>
          <p:cNvPr id="17" name="cover-stage-5">
            <a:extLst xmlns:a="http://schemas.openxmlformats.org/drawingml/2006/main">
              <a:ext uri="{FF2B5EF4-FFF2-40B4-BE49-F238E27FC236}">
                <a16:creationId xmlns:a16="http://schemas.microsoft.com/office/drawing/2014/main" id="{A8E41CC8-D6A5-4E08-960F-7391A747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124450"/>
            <a:ext cx="1790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1C4FA0-FBD6-4739-9F2E-F257EEFA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2197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警报 / 安全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辅助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E1646A-255E-458C-A565-5A8BDE22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388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当前理解——感知方式和系统架构仍需讨论。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D3BB8D-9603-4521-9932-6A6A9D72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388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255439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2">
            <a:extLst xmlns:a="http://schemas.openxmlformats.org/drawingml/2006/main">
              <a:ext uri="{FF2B5EF4-FFF2-40B4-BE49-F238E27FC236}">
                <a16:creationId xmlns:a16="http://schemas.microsoft.com/office/drawing/2014/main" id="{21B3EC28-E3F3-4B88-BDCD-65483514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初步方向 · 导师讨论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639D91A5-5EE3-44DF-BE3D-F53B75C6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视觉方案是一个务实的起点</a:t>
            </a:r>
          </a:p>
        </p:txBody>
      </p:sp>
      <p:sp>
        <p:nvSpPr>
          <p:cNvPr id="3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2F7ABF69-64F6-423C-85B4-6BA15FAB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57200" y="11906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graphicFrame>
        <p:nvGraphicFramePr>
          <p:cNvPr id="30" name=""/>
          <p:cNvGraphicFramePr/>
          <p:nvPr/>
        </p:nvGraphicFramePr>
        <p:xfrm>
          <a:off xmlns:a="http://schemas.openxmlformats.org/drawingml/2006/main" x="457200" y="1466850"/>
          <a:ext xmlns:a="http://schemas.openxmlformats.org/drawingml/2006/main" cx="11277600" cy="3105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095750"/>
                <a:gridCol w="4895850"/>
              </a:tblGrid>
              <a:tr h="62103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方法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典型输入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初步判断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基于车辆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方向盘、车道和车辆信号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需要接入车辆数据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生理信号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EEG、ECG、EOG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更直接，但需要额外传感器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基于视觉</a:t>
                      </a:r>
                    </a:p>
                  </a:txBody>
                  <a:tcPr marL="91440" marR="91440" marT="45720" marB="45720">
                    <a:solidFill>
                      <a:srgbClr val="E9F6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摄像头、人脸、眼睛、嘴部、头部</a:t>
                      </a:r>
                    </a:p>
                  </a:txBody>
                  <a:tcPr marL="91440" marR="91440" marT="45720" marB="45720">
                    <a:solidFill>
                      <a:srgbClr val="E9F6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非侵入式，易于制作原型</a:t>
                      </a:r>
                    </a:p>
                  </a:txBody>
                  <a:tcPr marL="91440" marR="91440" marT="45720" marB="45720">
                    <a:solidFill>
                      <a:srgbClr val="E9F6FD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混合方案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多种感知方式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可能更稳健，但更复杂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76293-B2B5-4AA4-BAED-9D8EFC17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149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25BA7-F155-4E0F-821B-644CF4C4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初步方向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066C9-44CB-4812-9914-6F830665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视觉方案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EAFBF-7A86-45E0-9FE1-878D7678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0292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数据易得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00E82-E90F-4029-95CF-B387204C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381625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摄像头数据容易获取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2E67B1-5031-490D-84E8-C03D444E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292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非侵入式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E8AFF-E028-446A-9100-878A7CD6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81625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无需佩戴传感器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460516-2A5C-49C1-8FD4-DCF988E0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292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便于原型验证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9E15B-73F2-4CEF-AA94-1CEA6D70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381625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适合实时测试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637048-BAF4-4863-AC82-183FF25C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目前仅为初步方向——仍需根据导师意见进一步研究。</a:t>
            </a:r>
          </a:p>
        </p:txBody>
      </p:sp>
    </p:spTree>
    <p:extLst>
      <p:ext uri="{BB962C8B-B14F-4D97-AF65-F5344CB8AC3E}">
        <p14:creationId xmlns:p14="http://schemas.microsoft.com/office/powerpoint/2010/main" val="15452273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eyebrow-3">
            <a:extLst xmlns:a="http://schemas.openxmlformats.org/drawingml/2006/main">
              <a:ext uri="{FF2B5EF4-FFF2-40B4-BE49-F238E27FC236}">
                <a16:creationId xmlns:a16="http://schemas.microsoft.com/office/drawing/2014/main" id="{B78CE7A7-9D8D-4E44-B28F-D99423F0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初步方向 · 导师讨论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B2710252-98A0-4F40-87D0-BB28B9DA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可行的视觉方案</a:t>
            </a:r>
          </a:p>
        </p:txBody>
      </p:sp>
      <p:sp>
        <p:nvSpPr>
          <p:cNvPr id="3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744F95EE-1C80-4A18-B8D1-826B6BCC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107" name=""/>
          <p:cNvCxnSpPr/>
          <p:nvPr/>
        </p:nvCxnSpPr>
        <p:spPr>
          <a:xfrm xmlns:a="http://schemas.openxmlformats.org/drawingml/2006/main">
            <a:off x="457200" y="11906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7B870-3493-4655-9A15-20A40B16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候选流程——具体特征和模型仍待确定。</a:t>
            </a:r>
          </a:p>
        </p:txBody>
      </p:sp>
      <p:cxnSp>
        <p:nvCxnSpPr>
          <p:cNvPr id="109" name=""/>
          <p:cNvCxnSpPr/>
          <p:nvPr/>
        </p:nvCxnSpPr>
        <p:spPr>
          <a:xfrm xmlns:a="http://schemas.openxmlformats.org/drawingml/2006/main">
            <a:off x="1905000" y="2343150"/>
            <a:ext cx="3238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110" name=""/>
          <p:cNvCxnSpPr/>
          <p:nvPr/>
        </p:nvCxnSpPr>
        <p:spPr>
          <a:xfrm xmlns:a="http://schemas.openxmlformats.org/drawingml/2006/main">
            <a:off x="3886200" y="2343150"/>
            <a:ext cx="3238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111" name=""/>
          <p:cNvCxnSpPr/>
          <p:nvPr/>
        </p:nvCxnSpPr>
        <p:spPr>
          <a:xfrm xmlns:a="http://schemas.openxmlformats.org/drawingml/2006/main">
            <a:off x="5772150" y="2343150"/>
            <a:ext cx="3238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112" name=""/>
          <p:cNvCxnSpPr/>
          <p:nvPr/>
        </p:nvCxnSpPr>
        <p:spPr>
          <a:xfrm xmlns:a="http://schemas.openxmlformats.org/drawingml/2006/main">
            <a:off x="7658100" y="2343150"/>
            <a:ext cx="3238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113" name=""/>
          <p:cNvCxnSpPr/>
          <p:nvPr/>
        </p:nvCxnSpPr>
        <p:spPr>
          <a:xfrm xmlns:a="http://schemas.openxmlformats.org/drawingml/2006/main">
            <a:off x="9639300" y="2343150"/>
            <a:ext cx="2286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1" name="pipeline-stage-1">
            <a:extLst xmlns:a="http://schemas.openxmlformats.org/drawingml/2006/main">
              <a:ext uri="{FF2B5EF4-FFF2-40B4-BE49-F238E27FC236}">
                <a16:creationId xmlns:a16="http://schemas.microsoft.com/office/drawing/2014/main" id="{ECFA95EB-0C8A-43C9-8E7B-9EAD3A5E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1447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B7816-9D74-43BA-BF44-90E39D70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28825"/>
            <a:ext cx="1295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摄像头 /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视频</a:t>
            </a:r>
          </a:p>
        </p:txBody>
      </p:sp>
      <p:sp>
        <p:nvSpPr>
          <p:cNvPr id="13" name="pipeline-stage-2">
            <a:extLst xmlns:a="http://schemas.openxmlformats.org/drawingml/2006/main">
              <a:ext uri="{FF2B5EF4-FFF2-40B4-BE49-F238E27FC236}">
                <a16:creationId xmlns:a16="http://schemas.microsoft.com/office/drawing/2014/main" id="{66C3B724-06A3-48D2-A6EF-813238D4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85950"/>
            <a:ext cx="15430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12D205-56BE-4459-9B38-226E4E22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28825"/>
            <a:ext cx="1390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人脸与特征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提取</a:t>
            </a:r>
          </a:p>
        </p:txBody>
      </p:sp>
      <p:sp>
        <p:nvSpPr>
          <p:cNvPr id="15" name="pipeline-stage-3">
            <a:extLst xmlns:a="http://schemas.openxmlformats.org/drawingml/2006/main">
              <a:ext uri="{FF2B5EF4-FFF2-40B4-BE49-F238E27FC236}">
                <a16:creationId xmlns:a16="http://schemas.microsoft.com/office/drawing/2014/main" id="{8390DA88-0EB1-4D74-A25B-FB835DBE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85950"/>
            <a:ext cx="1447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C04416-A2C8-49D9-81B3-168C6293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28825"/>
            <a:ext cx="1295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视觉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线索</a:t>
            </a:r>
          </a:p>
        </p:txBody>
      </p:sp>
      <p:sp>
        <p:nvSpPr>
          <p:cNvPr id="17" name="pipeline-stage-4">
            <a:extLst xmlns:a="http://schemas.openxmlformats.org/drawingml/2006/main">
              <a:ext uri="{FF2B5EF4-FFF2-40B4-BE49-F238E27FC236}">
                <a16:creationId xmlns:a16="http://schemas.microsoft.com/office/drawing/2014/main" id="{BABC4D57-CCFF-4393-A57A-A9F9B4CE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85950"/>
            <a:ext cx="1447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926309-D979-4335-A1C5-15640235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28825"/>
            <a:ext cx="1295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时间序列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分析</a:t>
            </a:r>
          </a:p>
        </p:txBody>
      </p:sp>
      <p:sp>
        <p:nvSpPr>
          <p:cNvPr id="19" name="pipeline-stage-5">
            <a:extLst xmlns:a="http://schemas.openxmlformats.org/drawingml/2006/main">
              <a:ext uri="{FF2B5EF4-FFF2-40B4-BE49-F238E27FC236}">
                <a16:creationId xmlns:a16="http://schemas.microsoft.com/office/drawing/2014/main" id="{E7B8B6CD-9DAE-4022-9938-F29C9267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15430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2F2582-8554-4190-90C4-582CC34D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28825"/>
            <a:ext cx="1390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疲劳状态 /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风险等级</a:t>
            </a:r>
          </a:p>
        </p:txBody>
      </p:sp>
      <p:sp>
        <p:nvSpPr>
          <p:cNvPr id="21" name="pipeline-stage-6">
            <a:extLst xmlns:a="http://schemas.openxmlformats.org/drawingml/2006/main">
              <a:ext uri="{FF2B5EF4-FFF2-40B4-BE49-F238E27FC236}">
                <a16:creationId xmlns:a16="http://schemas.microsoft.com/office/drawing/2014/main" id="{0183575B-ED3F-4E67-AC88-56EDBF5E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885950"/>
            <a:ext cx="1752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5F7E47-4CB4-4F9B-8634-291D8F08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28825"/>
            <a:ext cx="160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警报 / 安全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辅助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665A32-95BE-4670-9EFE-548A7BBA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候选视觉线索</a:t>
            </a:r>
          </a:p>
        </p:txBody>
      </p:sp>
      <p:cxnSp>
        <p:nvCxnSpPr>
          <p:cNvPr id="127" name=""/>
          <p:cNvCxnSpPr/>
          <p:nvPr/>
        </p:nvCxnSpPr>
        <p:spPr>
          <a:xfrm xmlns:a="http://schemas.openxmlformats.org/drawingml/2006/main">
            <a:off x="457200" y="37814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BA0C5D-1494-4A14-AC3D-B6F87D1A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290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眼睛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7A8F63-FE5D-48C0-BAE0-A2D601BB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007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闭眼、眨眼时长、PERCLOS</a:t>
            </a:r>
          </a:p>
        </p:txBody>
      </p:sp>
      <p:cxnSp>
        <p:nvCxnSpPr>
          <p:cNvPr id="130" name=""/>
          <p:cNvCxnSpPr/>
          <p:nvPr/>
        </p:nvCxnSpPr>
        <p:spPr>
          <a:xfrm xmlns:a="http://schemas.openxmlformats.org/drawingml/2006/main">
            <a:off x="3067050" y="4029075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E4BE05-53AD-4269-81AD-1AE872F8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290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嘴部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E01F46-1A71-4085-9C7C-4E795CF0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1007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打哈欠</a:t>
            </a:r>
          </a:p>
        </p:txBody>
      </p:sp>
      <p:cxnSp>
        <p:nvCxnSpPr>
          <p:cNvPr id="133" name=""/>
          <p:cNvCxnSpPr/>
          <p:nvPr/>
        </p:nvCxnSpPr>
        <p:spPr>
          <a:xfrm xmlns:a="http://schemas.openxmlformats.org/drawingml/2006/main">
            <a:off x="5886450" y="4029075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5FDE25-BC21-49C7-A85A-42EC3FF5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290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头部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E4AFB6-7FD8-408F-AB96-26A1D33A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1007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姿态与点头</a:t>
            </a:r>
          </a:p>
        </p:txBody>
      </p:sp>
      <p:cxnSp>
        <p:nvCxnSpPr>
          <p:cNvPr id="136" name=""/>
          <p:cNvCxnSpPr/>
          <p:nvPr/>
        </p:nvCxnSpPr>
        <p:spPr>
          <a:xfrm xmlns:a="http://schemas.openxmlformats.org/drawingml/2006/main">
            <a:off x="8705850" y="4029075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980BAF-5E40-4A89-9BA8-393FC0F2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290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其他行为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CF0980-C7C6-42FB-A368-8C5DEFA1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1007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分心，例如使用手机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D9A550-FFD6-4F97-A5BB-2AB59A3B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53075"/>
            <a:ext cx="11277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DA48D9-DB35-4381-A55D-F8E6133F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74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候选架构——特征和模型尚未最终确定。</a:t>
            </a:r>
          </a:p>
        </p:txBody>
      </p:sp>
    </p:spTree>
    <p:extLst>
      <p:ext uri="{BB962C8B-B14F-4D97-AF65-F5344CB8AC3E}">
        <p14:creationId xmlns:p14="http://schemas.microsoft.com/office/powerpoint/2010/main" val="10796428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4">
            <a:extLst xmlns:a="http://schemas.openxmlformats.org/drawingml/2006/main">
              <a:ext uri="{FF2B5EF4-FFF2-40B4-BE49-F238E27FC236}">
                <a16:creationId xmlns:a16="http://schemas.microsoft.com/office/drawing/2014/main" id="{43EF8192-FEF8-4A3E-8B32-7F8E2FE7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初步方向 · 导师讨论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D4C9D8B9-AAB2-4E22-8014-671D072E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关键挑战与可能的重点</a:t>
            </a:r>
          </a:p>
        </p:txBody>
      </p:sp>
      <p:sp>
        <p:nvSpPr>
          <p:cNvPr id="3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C3EB2275-A78C-4498-B9C4-F76F74BB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457200" y="11906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0F533-BE1F-4C8D-B48E-2A8C4E5A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视觉方案的挑战</a:t>
            </a:r>
          </a:p>
        </p:txBody>
      </p:sp>
      <p:graphicFrame>
        <p:nvGraphicFramePr>
          <p:cNvPr id="53" name=""/>
          <p:cNvGraphicFramePr/>
          <p:nvPr/>
        </p:nvGraphicFramePr>
        <p:xfrm>
          <a:off xmlns:a="http://schemas.openxmlformats.org/drawingml/2006/main" x="457200" y="1838325"/>
          <a:ext xmlns:a="http://schemas.openxmlformats.org/drawingml/2006/main" cx="55626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371850"/>
              </a:tblGrid>
              <a:tr h="563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挑战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为什么重要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光照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人脸和眼睛检测可能不稳定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眼镜与遮挡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可能无法获取眼部信息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头部姿态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人脸几何特征会变化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个体差异</a:t>
                      </a:r>
                    </a:p>
                  </a:txBody>
                  <a:tcPr marL="91440" marR="91440" marT="45720" marB="45720">
                    <a:solidFill>
                      <a:srgbClr val="E9F6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固定规则不一定适合所有驾驶员</a:t>
                      </a:r>
                    </a:p>
                  </a:txBody>
                  <a:tcPr marL="91440" marR="91440" marT="45720" marB="45720">
                    <a:solidFill>
                      <a:srgbClr val="E9F6FD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泛化能力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面对未见过的驾驶员时性能可能下降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实时性能</a:t>
                      </a:r>
                    </a:p>
                  </a:txBody>
                  <a:tcPr marL="91440" marR="91440" marT="45720" marB="45720">
                    <a:solidFill>
                      <a:srgbClr val="E9F6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检测和警报必须及时</a:t>
                      </a:r>
                    </a:p>
                  </a:txBody>
                  <a:tcPr marL="91440" marR="91440" marT="45720" marB="45720">
                    <a:solidFill>
                      <a:srgbClr val="E9F6F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58548-A695-4D05-A847-E35B8713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90700"/>
            <a:ext cx="66675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AA70B-8B04-42AE-AA24-9CA6AFB5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097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候选重点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6DB86-F6DB-4117-8BC9-185EF44A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431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个体差异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173B94-CBED-4D10-8BD1-4174245F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09850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不同驾驶员可能需要不同的阈值或模型。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AD6F6-F139-4207-B03B-34DA9FBD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337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可能的方向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D9672-AF26-4E7F-84FC-E9A2F687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00425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个性化校准  •  自适应阈值  •  跨人员评估</a:t>
            </a:r>
          </a:p>
        </p:txBody>
      </p:sp>
      <p:cxnSp>
        <p:nvCxnSpPr>
          <p:cNvPr id="60" name=""/>
          <p:cNvCxnSpPr/>
          <p:nvPr/>
        </p:nvCxnSpPr>
        <p:spPr>
          <a:xfrm xmlns:a="http://schemas.openxmlformats.org/drawingml/2006/main">
            <a:off x="6534150" y="4057650"/>
            <a:ext cx="49339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FA671-A9D5-43BE-9382-8DAC625A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43400"/>
            <a:ext cx="6667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89C9E2-A09D-44E3-84BE-FE691453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624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候选重点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506ABB-362E-4B21-B8AA-E5D7DB49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958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实时性能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D2EAFA-BB2F-4B8F-A376-81B433C0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162550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如果检测或警报有延迟，仅有准确率还不够。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BC4453-2459-4900-B96E-80E8D342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6673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FPS  •  处理延迟  •  检测延迟  •  硬件  •  准确率与速度权衡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AD3417-5F81-4E6F-9C4B-2557AEB1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5792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这些只是供讨论的优先方向——尚未确定为最终项目贡献。</a:t>
            </a:r>
          </a:p>
        </p:txBody>
      </p:sp>
    </p:spTree>
    <p:extLst>
      <p:ext uri="{BB962C8B-B14F-4D97-AF65-F5344CB8AC3E}">
        <p14:creationId xmlns:p14="http://schemas.microsoft.com/office/powerpoint/2010/main" val="1064105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-5">
            <a:extLst xmlns:a="http://schemas.openxmlformats.org/drawingml/2006/main">
              <a:ext uri="{FF2B5EF4-FFF2-40B4-BE49-F238E27FC236}">
                <a16:creationId xmlns:a16="http://schemas.microsoft.com/office/drawing/2014/main" id="{024D933A-2324-483F-9CE5-3CFEF175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初步方向 · 导师讨论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BA6DD85B-5638-4E4F-954B-A4BD2607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讨论问题</a:t>
            </a:r>
          </a:p>
        </p:txBody>
      </p:sp>
      <p:sp>
        <p:nvSpPr>
          <p:cNvPr id="3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7C979D27-B064-4638-99EB-9D6D3EA5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87" name=""/>
          <p:cNvCxnSpPr/>
          <p:nvPr/>
        </p:nvCxnSpPr>
        <p:spPr>
          <a:xfrm xmlns:a="http://schemas.openxmlformats.org/drawingml/2006/main">
            <a:off x="457200" y="11906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F5FCB-6FE0-48BB-93AA-65360768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本次会议应明确项目范围、项目贡献和最终成功标准。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2A663-8FF5-48A1-8081-CD71BBA2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92AF2-BF9C-42E5-B72F-687E13F6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28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项目范围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BCF734-0709-4D9F-BFED-2607F48D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0975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基于摄像头的视觉方法是否应作为主方向？是否还需考虑车辆或生理信号？</a:t>
            </a:r>
          </a:p>
        </p:txBody>
      </p:sp>
      <p:cxnSp>
        <p:nvCxnSpPr>
          <p:cNvPr id="92" name=""/>
          <p:cNvCxnSpPr/>
          <p:nvPr/>
        </p:nvCxnSpPr>
        <p:spPr>
          <a:xfrm xmlns:a="http://schemas.openxmlformats.org/drawingml/2006/main">
            <a:off x="457200" y="24384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E49FE-B6F8-462B-BEEB-5F3D28C7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5F731-EC51-49A3-90BF-498A456D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09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技术要求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AFC54E-3A64-4D9F-8D4F-10DA90DF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9080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我们需要自行训练 AI 模型吗？是否可以使用预训练模型和基于特征的方法？</a:t>
            </a:r>
          </a:p>
        </p:txBody>
      </p:sp>
      <p:cxnSp>
        <p:nvCxnSpPr>
          <p:cNvPr id="96" name=""/>
          <p:cNvCxnSpPr/>
          <p:nvPr/>
        </p:nvCxnSpPr>
        <p:spPr>
          <a:xfrm xmlns:a="http://schemas.openxmlformats.org/drawingml/2006/main">
            <a:off x="457200" y="32194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5A69FA-6FA9-408A-9676-5CD4BC49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11277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B50753-1672-46D6-A074-87C1F213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194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BF434B-C7C0-4C47-8DA9-7457410C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项目重点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DEAF94-88D8-4773-AF2F-9B9D53A0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7185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应集中解决一个技术难题，还是搭建完整的实时系统？</a:t>
            </a:r>
          </a:p>
        </p:txBody>
      </p:sp>
      <p:cxnSp>
        <p:nvCxnSpPr>
          <p:cNvPr id="101" name=""/>
          <p:cNvCxnSpPr/>
          <p:nvPr/>
        </p:nvCxnSpPr>
        <p:spPr>
          <a:xfrm xmlns:a="http://schemas.openxmlformats.org/drawingml/2006/main">
            <a:off x="457200" y="4000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AF98EC-1EC7-4181-82D4-4A37E1B5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005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4B7AE2-D477-4C08-B090-66955BB2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71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安全辅助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E9BDD2-D4A0-4EDB-9FDA-B6F31545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15290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只提供警报和风险等级是否足够？是否还需要其他辅助功能？</a:t>
            </a:r>
          </a:p>
        </p:txBody>
      </p:sp>
      <p:cxnSp>
        <p:nvCxnSpPr>
          <p:cNvPr id="105" name=""/>
          <p:cNvCxnSpPr/>
          <p:nvPr/>
        </p:nvCxnSpPr>
        <p:spPr>
          <a:xfrm xmlns:a="http://schemas.openxmlformats.org/drawingml/2006/main">
            <a:off x="457200" y="47815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632A33-7E67-454C-9B61-36C92C80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11277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D163AD-B7F8-4FA9-9A51-3F2F31B1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815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7562EF-E3C7-4ECF-A7D5-3F9D95C2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53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成功标准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07C415-D8D4-4506-BBA1-E0C85DA5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3395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最终演示做到什么程度才算成功？</a:t>
            </a:r>
          </a:p>
        </p:txBody>
      </p:sp>
      <p:cxnSp>
        <p:nvCxnSpPr>
          <p:cNvPr id="110" name=""/>
          <p:cNvCxnSpPr/>
          <p:nvPr/>
        </p:nvCxnSpPr>
        <p:spPr>
          <a:xfrm xmlns:a="http://schemas.openxmlformats.org/drawingml/2006/main">
            <a:off x="457200" y="55626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6EF26E-8352-4F4B-BED9-B09025B0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1700"/>
            <a:ext cx="11277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DBB5E5-2B93-4836-933D-E66C4261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期望结果：在确定架构前先确认项目方向。</a:t>
            </a:r>
          </a:p>
        </p:txBody>
      </p:sp>
    </p:spTree>
    <p:extLst>
      <p:ext uri="{BB962C8B-B14F-4D97-AF65-F5344CB8AC3E}">
        <p14:creationId xmlns:p14="http://schemas.microsoft.com/office/powerpoint/2010/main" val="3077175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2026-08-25T16:41:24.4790000Z</dcterms:created>
  <dcterms:modified xsi:type="dcterms:W3CDTF">2026-08-25T16:41:24.4790000Z</dcterms:modified>
</coreProperties>
</file>