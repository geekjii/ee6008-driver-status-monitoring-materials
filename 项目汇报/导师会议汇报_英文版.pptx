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e54b7eafa4e20" /><Relationship Type="http://schemas.openxmlformats.org/officeDocument/2006/relationships/extended-properties" Target="/docProps/app.xml" Id="R3fd0477bda6d4791" /><Relationship Type="http://schemas.openxmlformats.org/officeDocument/2006/relationships/officeDocument" Target="/ppt/presentation.xml" Id="R66baa4dc849848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747fde65de4c63"/>
  </p:sldMasterIdLst>
  <p:notesMasterIdLst>
    <p:notesMasterId xmlns:r="http://schemas.openxmlformats.org/officeDocument/2006/relationships" r:id="Rfe7ed5e354874527"/>
  </p:notesMasterIdLst>
  <p:sldIdLst>
    <p:sldId xmlns:r="http://schemas.openxmlformats.org/officeDocument/2006/relationships" id="256" r:id="Rec91cf4c2b83482a"/>
    <p:sldId xmlns:r="http://schemas.openxmlformats.org/officeDocument/2006/relationships" id="257" r:id="Ra7005241011e4e16"/>
    <p:sldId xmlns:r="http://schemas.openxmlformats.org/officeDocument/2006/relationships" id="258" r:id="Ra3314f8f706d4643"/>
    <p:sldId xmlns:r="http://schemas.openxmlformats.org/officeDocument/2006/relationships" id="259" r:id="Rbcc1e75276a04e76"/>
    <p:sldId xmlns:r="http://schemas.openxmlformats.org/officeDocument/2006/relationships" id="260" r:id="R74fc623c8d2748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9294e0059e4532" /><Relationship Type="http://schemas.openxmlformats.org/officeDocument/2006/relationships/slideMaster" Target="/ppt/slideMasters/slideMaster1.xml" Id="Ra9747fde65de4c63" /><Relationship Type="http://schemas.openxmlformats.org/officeDocument/2006/relationships/notesMaster" Target="/ppt/notesMasters/notesMaster1.xml" Id="Rfe7ed5e354874527" /><Relationship Type="http://schemas.openxmlformats.org/officeDocument/2006/relationships/presProps" Target="/ppt/presProps.xml" Id="R45baa521af78445b" /><Relationship Type="http://schemas.openxmlformats.org/officeDocument/2006/relationships/tableStyles" Target="/ppt/tableStyles.xml" Id="R10ef53872bba415a" /><Relationship Type="http://schemas.openxmlformats.org/officeDocument/2006/relationships/slide" Target="/ppt/slides/slide1.xml" Id="Rec91cf4c2b83482a" /><Relationship Type="http://schemas.openxmlformats.org/officeDocument/2006/relationships/slide" Target="/ppt/slides/slide2.xml" Id="Ra7005241011e4e16" /><Relationship Type="http://schemas.openxmlformats.org/officeDocument/2006/relationships/slide" Target="/ppt/slides/slide3.xml" Id="Ra3314f8f706d4643" /><Relationship Type="http://schemas.openxmlformats.org/officeDocument/2006/relationships/slide" Target="/ppt/slides/slide4.xml" Id="Rbcc1e75276a04e76" /><Relationship Type="http://schemas.openxmlformats.org/officeDocument/2006/relationships/slide" Target="/ppt/slides/slide5.xml" Id="R74fc623c8d2748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597bd198ee47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b96bc00ab74a5e" /><Relationship Type="http://schemas.openxmlformats.org/officeDocument/2006/relationships/notesMaster" Target="/ppt/notesMasters/notesMaster1.xml" Id="Re2a3e8fd60b545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b7703dc1d0408c" /><Relationship Type="http://schemas.openxmlformats.org/officeDocument/2006/relationships/notesMaster" Target="/ppt/notesMasters/notesMaster1.xml" Id="Ra84449204d2b45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b7dd1fd6644158" /><Relationship Type="http://schemas.openxmlformats.org/officeDocument/2006/relationships/notesMaster" Target="/ppt/notesMasters/notesMaster1.xml" Id="Re2ef388fb4e843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8048b1d22d43d3" /><Relationship Type="http://schemas.openxmlformats.org/officeDocument/2006/relationships/notesMaster" Target="/ppt/notesMasters/notesMaster1.xml" Id="R271d8e91001848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1b8282beec49c5" /><Relationship Type="http://schemas.openxmlformats.org/officeDocument/2006/relationships/notesMaster" Target="/ppt/notesMasters/notesMaster1.xml" Id="R216f8ef19a4248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Confirm that this is the intended project objective before discussing implementation.</a:t>
            </a:r>
          </a:p>
          <a:p xmlns:a="http://schemas.openxmlformats.org/drawingml/2006/main">
            <a:r>
              <a:t>Emphasize that the sensing method and architecture have not been finalized.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Teacher-provided reference PDF, summarized in the referenced conversation: high-level vision-to-risk-to-alert system logic.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comparison to explain why vision-based monitoring currently appears practical.</a:t>
            </a:r>
          </a:p>
          <a:p xmlns:a="http://schemas.openxmlformats.org/drawingml/2006/main">
            <a:r>
              <a:t>State explicitly that the choice is not final.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Teacher-provided reference PDF, summarized in the referenced conversation: vehicle-based, physiological, vision-based, and multimodal method categories; non-intrusive advantages of vision-based monitoring.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drowsiness should be assessed over time rather than from one frame.</a:t>
            </a:r>
          </a:p>
          <a:p xmlns:a="http://schemas.openxmlformats.org/drawingml/2006/main">
            <a:r>
              <a:t>Mention eyes, mouth, head movement, and distraction only as candidate cues.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Teacher-provided reference PDF, summarized in the referenced conversation: facial/behavioural cues, temporal aggregation, risk estimation, and alerts; combination of geometric features and deep-learning detection in the reference implementation.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feedback on whether individual differences and real-time performance are appropriate priorities.</a:t>
            </a:r>
          </a:p>
          <a:p xmlns:a="http://schemas.openxmlformats.org/drawingml/2006/main">
            <a:r>
              <a:t>Distinguish a research-oriented contribution from a complete-system contribution.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Teacher-provided reference PDF, summarized in the referenced conversation: illumination, occlusion, head pose, individual differences, generalization, and real-time deployment challenges; lightweight inference and latency optimizations in the reference implementation.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Prioritize questions 3 and 5 if discussion time is limited.</a:t>
            </a:r>
          </a:p>
          <a:p xmlns:a="http://schemas.openxmlformats.org/drawingml/2006/main">
            <a:r>
              <a:t>Use the answers to decide whether the project is research-oriented or system-oriented.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Discussion questions synthesized from the project brief and the prior supervisor-meeting planning conversation; no external factual claims.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cedc66a3649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f88dc36a314f6f" /><Relationship Type="http://schemas.openxmlformats.org/officeDocument/2006/relationships/slideLayout" Target="/ppt/slideLayouts/slideLayout1.xml" Id="R5db40ce910f44c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b40ce910f44c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059ffc51a4cb5" /><Relationship Type="http://schemas.openxmlformats.org/officeDocument/2006/relationships/notesSlide" Target="/ppt/notesSlides/notesSlide1.xml" Id="R7e464260358f48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a08684bbc426d" /><Relationship Type="http://schemas.openxmlformats.org/officeDocument/2006/relationships/notesSlide" Target="/ppt/notesSlides/notesSlide2.xml" Id="Rca8e3867f80341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3208ef9c4453f" /><Relationship Type="http://schemas.openxmlformats.org/officeDocument/2006/relationships/notesSlide" Target="/ppt/notesSlides/notesSlide3.xml" Id="R0f32e0a69aa14b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29d694a814af9" /><Relationship Type="http://schemas.openxmlformats.org/officeDocument/2006/relationships/notesSlide" Target="/ppt/notesSlides/notesSlide4.xml" Id="R065891590f694e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bfb4ef5e74a08" /><Relationship Type="http://schemas.openxmlformats.org/officeDocument/2006/relationships/notesSlide" Target="/ppt/notesSlides/notesSlide5.xml" Id="R6606da3aa91b4d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98A2A-0EB8-4642-A273-328AFC65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INITIAL DIRECTION • SUPERVISOR DISCUSSION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F53FA63E-884C-4F12-AF76-B75A9452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Driver Drowsiness Detection</a:t>
            </a:r>
          </a:p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Intelligent Road Safety</a:t>
            </a:r>
          </a:p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Assistance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9DBB8-21C9-409A-A56F-A474C24B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84680-49A3-456E-830D-61CE769A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90975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Develop a real-time, non-intrusive system to detect driver drowsiness and provide timely safety alerts or assistance.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1809750" y="5524500"/>
            <a:ext cx="628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4191000" y="5524500"/>
            <a:ext cx="6286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6553200" y="5524500"/>
            <a:ext cx="6477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8810625" y="5524500"/>
            <a:ext cx="69532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9" name="cover-stage-1">
            <a:extLst xmlns:a="http://schemas.openxmlformats.org/drawingml/2006/main">
              <a:ext uri="{FF2B5EF4-FFF2-40B4-BE49-F238E27FC236}">
                <a16:creationId xmlns:a16="http://schemas.microsoft.com/office/drawing/2014/main" id="{AE1AF015-9A4F-46B2-A589-AC8271A1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352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E7E24-6AC8-417E-BD50-28285677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Driver</a:t>
            </a:r>
          </a:p>
        </p:txBody>
      </p:sp>
      <p:sp>
        <p:nvSpPr>
          <p:cNvPr id="11" name="cover-stage-2">
            <a:extLst xmlns:a="http://schemas.openxmlformats.org/drawingml/2006/main">
              <a:ext uri="{FF2B5EF4-FFF2-40B4-BE49-F238E27FC236}">
                <a16:creationId xmlns:a16="http://schemas.microsoft.com/office/drawing/2014/main" id="{9D0CF9FA-8B82-4CFC-807F-78BF6BD2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66105-2C58-46EE-9932-60615556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Camera / Sensors</a:t>
            </a:r>
          </a:p>
        </p:txBody>
      </p:sp>
      <p:sp>
        <p:nvSpPr>
          <p:cNvPr id="13" name="cover-stage-3">
            <a:extLst xmlns:a="http://schemas.openxmlformats.org/drawingml/2006/main">
              <a:ext uri="{FF2B5EF4-FFF2-40B4-BE49-F238E27FC236}">
                <a16:creationId xmlns:a16="http://schemas.microsoft.com/office/drawing/2014/main" id="{80A7FD1B-518A-4AAE-94D2-148F935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24450"/>
            <a:ext cx="1600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3FCB6-77B3-40D6-974A-AA17CC3A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197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Drowsiness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Detection</a:t>
            </a:r>
          </a:p>
        </p:txBody>
      </p:sp>
      <p:sp>
        <p:nvSpPr>
          <p:cNvPr id="15" name="cover-stage-4">
            <a:extLst xmlns:a="http://schemas.openxmlformats.org/drawingml/2006/main">
              <a:ext uri="{FF2B5EF4-FFF2-40B4-BE49-F238E27FC236}">
                <a16:creationId xmlns:a16="http://schemas.microsoft.com/office/drawing/2014/main" id="{6E482898-F9D9-41A5-8B85-87743BFE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1476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415D2-B35C-428D-9749-97C16485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19700"/>
            <a:ext cx="128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Assessment</a:t>
            </a:r>
          </a:p>
        </p:txBody>
      </p:sp>
      <p:sp>
        <p:nvSpPr>
          <p:cNvPr id="17" name="cover-stage-5">
            <a:extLst xmlns:a="http://schemas.openxmlformats.org/drawingml/2006/main">
              <a:ext uri="{FF2B5EF4-FFF2-40B4-BE49-F238E27FC236}">
                <a16:creationId xmlns:a16="http://schemas.microsoft.com/office/drawing/2014/main" id="{A8E41CC8-D6A5-4E08-960F-7391A747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2445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C4FA0-FBD6-4739-9F2E-F257EEFA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1970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Alert / Safety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Assistance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1646A-255E-458C-A565-5A8BDE2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Current understanding — sensing method and architecture remain open for discussion.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3BB8D-9603-4521-9932-6A6A9D72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38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5543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2">
            <a:extLst xmlns:a="http://schemas.openxmlformats.org/drawingml/2006/main">
              <a:ext uri="{FF2B5EF4-FFF2-40B4-BE49-F238E27FC236}">
                <a16:creationId xmlns:a16="http://schemas.microsoft.com/office/drawing/2014/main" id="{21B3EC28-E3F3-4B88-BDCD-65483514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INITIAL DIRECTION • SUPERVISOR DISCUSSION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39D91A5-5EE3-44DF-BE3D-F53B75C6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Vision-based is a practical starting point</a:t>
            </a:r>
          </a:p>
        </p:txBody>
      </p:sp>
      <p:sp>
        <p:nvSpPr>
          <p:cNvPr id="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2F7ABF69-64F6-423C-85B4-6BA15FAB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57200" y="11906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graphicFrame>
        <p:nvGraphicFramePr>
          <p:cNvPr id="20" name=""/>
          <p:cNvGraphicFramePr/>
          <p:nvPr/>
        </p:nvGraphicFramePr>
        <p:xfrm>
          <a:off xmlns:a="http://schemas.openxmlformats.org/drawingml/2006/main" x="457200" y="1466850"/>
          <a:ext xmlns:a="http://schemas.openxmlformats.org/drawingml/2006/main" cx="112776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95750"/>
                <a:gridCol w="4895850"/>
              </a:tblGrid>
              <a:tr h="62103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Approach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Typical input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observation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Vehicle-based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Steering, lane, vehicle signals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access to vehicle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Physiological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EEG, ECG, EOG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More direct, but needs added sensors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Vision-based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Camera, face, eyes, mouth, head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Non-intrusive and easy to prototype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Hybrid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Multiple sensing modalities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Potentially robust, but more complex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76293-B2B5-4AA4-BAED-9D8EFC17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25BA7-F155-4E0F-821B-644CF4C4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Initial 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066C9-44CB-4812-9914-6F83066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VISION-BASED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EAFBF-7A86-45E0-9FE1-878D7678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29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00E82-E90F-4029-95CF-B387204C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816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Camera data is easy to obtain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E67B1-5031-490D-84E8-C03D444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Non-intrusive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E8AFF-E028-446A-9100-878A7CD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816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No wearable sensor burden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60516-2A5C-49C1-8FD4-DCF988E0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29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Prototype-ready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9E15B-73F2-4CEF-AA94-1CEA6D70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3816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Suitable for real-time testing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37048-BAF4-4863-AC82-183FF25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Initial direction only — subject to supervisor feedback and further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1545227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-3">
            <a:extLst xmlns:a="http://schemas.openxmlformats.org/drawingml/2006/main">
              <a:ext uri="{FF2B5EF4-FFF2-40B4-BE49-F238E27FC236}">
                <a16:creationId xmlns:a16="http://schemas.microsoft.com/office/drawing/2014/main" id="{B78CE7A7-9D8D-4E44-B28F-D99423F0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INITIAL DIRECTION • SUPERVISOR DISCUSSION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2710252-98A0-4F40-87D0-BB28B9D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Possible vision-based direction</a:t>
            </a:r>
          </a:p>
        </p:txBody>
      </p:sp>
      <p:sp>
        <p:nvSpPr>
          <p:cNvPr id="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744F95EE-1C80-4A18-B8D1-826B6BCC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57200" y="11906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7B870-3493-4655-9A15-20A40B16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A candidate flow — the specific features and models are still open.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905000" y="2343150"/>
            <a:ext cx="3238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3886200" y="2343150"/>
            <a:ext cx="3238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5772150" y="2343150"/>
            <a:ext cx="3238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7658100" y="2343150"/>
            <a:ext cx="3238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9639300" y="2343150"/>
            <a:ext cx="228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1" name="pipeline-stage-1">
            <a:extLst xmlns:a="http://schemas.openxmlformats.org/drawingml/2006/main">
              <a:ext uri="{FF2B5EF4-FFF2-40B4-BE49-F238E27FC236}">
                <a16:creationId xmlns:a16="http://schemas.microsoft.com/office/drawing/2014/main" id="{ECFA95EB-0C8A-43C9-8E7B-9EAD3A5E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447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B7816-9D74-43BA-BF44-90E39D70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28825"/>
            <a:ext cx="129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Camera /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Video</a:t>
            </a:r>
          </a:p>
        </p:txBody>
      </p:sp>
      <p:sp>
        <p:nvSpPr>
          <p:cNvPr id="13" name="pipeline-stage-2">
            <a:extLst xmlns:a="http://schemas.openxmlformats.org/drawingml/2006/main">
              <a:ext uri="{FF2B5EF4-FFF2-40B4-BE49-F238E27FC236}">
                <a16:creationId xmlns:a16="http://schemas.microsoft.com/office/drawing/2014/main" id="{66C3B724-06A3-48D2-A6EF-813238D4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1543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2D205-56BE-4459-9B38-226E4E22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Face &amp; Feature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Extraction</a:t>
            </a:r>
          </a:p>
        </p:txBody>
      </p:sp>
      <p:sp>
        <p:nvSpPr>
          <p:cNvPr id="15" name="pipeline-stage-3">
            <a:extLst xmlns:a="http://schemas.openxmlformats.org/drawingml/2006/main">
              <a:ext uri="{FF2B5EF4-FFF2-40B4-BE49-F238E27FC236}">
                <a16:creationId xmlns:a16="http://schemas.microsoft.com/office/drawing/2014/main" id="{8390DA88-0EB1-4D74-A25B-FB835DBE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1447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04416-A2C8-49D9-81B3-168C6293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28825"/>
            <a:ext cx="129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Visual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Cues</a:t>
            </a:r>
          </a:p>
        </p:txBody>
      </p:sp>
      <p:sp>
        <p:nvSpPr>
          <p:cNvPr id="17" name="pipeline-stage-4">
            <a:extLst xmlns:a="http://schemas.openxmlformats.org/drawingml/2006/main">
              <a:ext uri="{FF2B5EF4-FFF2-40B4-BE49-F238E27FC236}">
                <a16:creationId xmlns:a16="http://schemas.microsoft.com/office/drawing/2014/main" id="{BABC4D57-CCFF-4393-A57A-A9F9B4C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1447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26309-D979-4335-A1C5-15640235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129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Temporal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Analysis</a:t>
            </a:r>
          </a:p>
        </p:txBody>
      </p:sp>
      <p:sp>
        <p:nvSpPr>
          <p:cNvPr id="19" name="pipeline-stage-5">
            <a:extLst xmlns:a="http://schemas.openxmlformats.org/drawingml/2006/main">
              <a:ext uri="{FF2B5EF4-FFF2-40B4-BE49-F238E27FC236}">
                <a16:creationId xmlns:a16="http://schemas.microsoft.com/office/drawing/2014/main" id="{E7B8B6CD-9DAE-4022-9938-F29C9267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1543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F2582-8554-4190-90C4-582CC34D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28825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Drowsiness State /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 Level</a:t>
            </a:r>
          </a:p>
        </p:txBody>
      </p:sp>
      <p:sp>
        <p:nvSpPr>
          <p:cNvPr id="21" name="pipeline-stage-6">
            <a:extLst xmlns:a="http://schemas.openxmlformats.org/drawingml/2006/main">
              <a:ext uri="{FF2B5EF4-FFF2-40B4-BE49-F238E27FC236}">
                <a16:creationId xmlns:a16="http://schemas.microsoft.com/office/drawing/2014/main" id="{0183575B-ED3F-4E67-AC88-56EDBF5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85950"/>
            <a:ext cx="1752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F7E47-4CB4-4F9B-8634-291D8F0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28825"/>
            <a:ext cx="160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Alert / Safety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Assistance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65A32-95BE-4670-9EFE-548A7BBA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Candidate visual cues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57200" y="37814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A0C5D-1494-4A14-AC3D-B6F87D1A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Eyes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A8F63-FE5D-48C0-BAE0-A2D601BB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Eye closure, blink duration, PERCLOS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3067050" y="4029075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E4BE05-53AD-4269-81AD-1AE872F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29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Mouth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E01F46-1A71-4085-9C7C-4E795CF0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10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Yawning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5886450" y="4029075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5FDE25-BC21-49C7-A85A-42EC3FF5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E4AFB6-7FD8-408F-AB96-26A1D33A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0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Pose and nodding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8705850" y="4029075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80BAF-5E40-4A89-9BA8-393FC0F2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29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Other behaviours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CF0980-C7C6-42FB-A368-8C5DEFA1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Distraction, e.g. phone use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9A550-FFD6-4F97-A5BB-2AB59A3B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1127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DA48D9-DB35-4381-A55D-F8E6133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Candidate architecture — features and models have not been finalized.</a:t>
            </a:r>
          </a:p>
        </p:txBody>
      </p:sp>
    </p:spTree>
    <p:extLst>
      <p:ext uri="{BB962C8B-B14F-4D97-AF65-F5344CB8AC3E}">
        <p14:creationId xmlns:p14="http://schemas.microsoft.com/office/powerpoint/2010/main" val="1079642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4">
            <a:extLst xmlns:a="http://schemas.openxmlformats.org/drawingml/2006/main">
              <a:ext uri="{FF2B5EF4-FFF2-40B4-BE49-F238E27FC236}">
                <a16:creationId xmlns:a16="http://schemas.microsoft.com/office/drawing/2014/main" id="{43EF8192-FEF8-4A3E-8B32-7F8E2FE7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INITIAL DIRECTION • SUPERVISOR DISCUSSION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4C9D8B9-AAB2-4E22-8014-671D072E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Key challenges &amp; possible focus areas</a:t>
            </a:r>
          </a:p>
        </p:txBody>
      </p:sp>
      <p:sp>
        <p:nvSpPr>
          <p:cNvPr id="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C3EB2275-A78C-4498-B9C4-F76F74BB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57200" y="11906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0F533-BE1F-4C8D-B48E-2A8C4E5A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Vision-based challenges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457200" y="1838325"/>
          <a:ext xmlns:a="http://schemas.openxmlformats.org/drawingml/2006/main" cx="55626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371850"/>
              </a:tblGrid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Challenge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Face / eye detection may become unstable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Glasses &amp; occlusion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Eye information may be unavailable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Head pose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Facial geometry changes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Individual differences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Fixed rules may not fit every driver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Generalization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Performance may drop for unseen drivers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Real-time performance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Detection and warning must be timely</a:t>
                      </a:r>
                    </a:p>
                  </a:txBody>
                  <a:tcPr marL="91440" marR="91440" marT="45720" marB="45720">
                    <a:solidFill>
                      <a:srgbClr val="E9F6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58548-A695-4D05-A847-E35B8713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90700"/>
            <a:ext cx="66675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AA70B-8B04-42AE-AA24-9CA6AFB5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Possible focus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6DB86-F6DB-4117-8BC9-185EF44A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43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Individual differences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73B94-CBED-4D10-8BD1-4174245F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Different drivers may need different thresholds or models.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AD6F6-F139-4207-B03B-34DA9FBD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337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Possible directions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D9672-AF26-4E7F-84FC-E9A2F687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04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Personal calibration  •  Adaptive thresholds  •  Subject-independent evaluation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534150" y="4057650"/>
            <a:ext cx="4933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FA671-A9D5-43BE-9382-8DAC625A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666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9C9E2-A09D-44E3-84BE-FE691453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624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Possible focus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06ABB-362E-4B21-B8AA-E5D7DB49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958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Real-time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2EAFA-BB2F-4B8F-A376-81B433C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6255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Accuracy alone is insufficient if detection or warning is delayed.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C4453-2459-4900-B96E-80E8D342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673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FPS  •  Processing latency  •  Detection latency  •  Hardware  •  Accuracy–speed trade-off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D3417-5F81-4E6F-9C4B-2557AEB1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These are possible priorities for discussion — not finalized project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106410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5">
            <a:extLst xmlns:a="http://schemas.openxmlformats.org/drawingml/2006/main">
              <a:ext uri="{FF2B5EF4-FFF2-40B4-BE49-F238E27FC236}">
                <a16:creationId xmlns:a16="http://schemas.microsoft.com/office/drawing/2014/main" id="{024D933A-2324-483F-9CE5-3CFEF175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INITIAL DIRECTION • SUPERVISOR DISCUSSION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A6DD85B-5638-4E4F-954B-A4BD2607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Questions for discussion</a:t>
            </a:r>
          </a:p>
        </p:txBody>
      </p:sp>
      <p:sp>
        <p:nvSpPr>
          <p:cNvPr id="3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7C979D27-B064-4638-99EB-9D6D3EA5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7200" y="11906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F5FCB-6FE0-48BB-93AA-65360768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The meeting should clarify scope, contribution, and the final success criteria.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2A663-8FF5-48A1-8081-CD71BBA2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92AF2-BF9C-42E5-B72F-687E13F6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28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CF734-0709-4D9F-BFED-2607F48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0975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Is camera-based vision the intended main direction, or should we also consider vehicle or physiological signals?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24384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E49FE-B6F8-462B-BEEB-5F3D28C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5F731-EC51-49A3-90BF-498A456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Technical expectation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FC54E-3A64-4D9F-8D4F-10DA90DF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Should we train our own AI model, or may we use pretrained and feature-based methods?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57200" y="32194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A69FA-6FA9-408A-9676-5CD4BC49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50753-1672-46D6-A074-87C1F213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F434B-C7C0-4C47-8DA9-7457410C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Main project 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EAF94-88D8-4773-AF2F-9B9D53A0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7185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Should we solve one technical challenge, or build a complete real-time system?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57200" y="40005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F98EC-1EC7-4181-82D4-4A37E1B5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B7AE2-D477-4C08-B090-66955BB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Safety assistance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9BDD2-D4A0-4EDB-9FDA-B6F31545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529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Are warnings and risk-level alerts sufficient, or are additional assistance functions expected?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457200" y="47815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32A33-7E67-454C-9B61-36C92C80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163AD-B7F8-4FA9-9A51-3F2F31B1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7562EF-E3C7-4ECF-A7D5-3F9D95C2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Success criteria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7C415-D8D4-4506-BBA1-E0C85DA5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would a successful final demonstration look like?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57200" y="55626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EF26E-8352-4F4B-BED9-B09025B0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27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BB5E5-2B93-4836-933D-E66C4261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Desired outcome: confirm the direction before finalizing the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07717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2026-08-25T02:22:53.7120000Z</dcterms:created>
  <dcterms:modified xsi:type="dcterms:W3CDTF">2026-08-25T02:22:53.7120000Z</dcterms:modified>
</coreProperties>
</file>